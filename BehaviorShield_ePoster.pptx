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LightGBM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0.97589999999999999</c:v>
                </c:pt>
                <c:pt idx="1">
                  <c:v>0.9819</c:v>
                </c:pt>
                <c:pt idx="2">
                  <c:v>0.98199999999999998</c:v>
                </c:pt>
                <c:pt idx="3">
                  <c:v>0.9466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D-428A-8DE7-5E402E100D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533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3" name="Image 0" descr="/home/claude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731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Privacy Guardianship in XR Metaverses via AI-Driven Behavioral Analytics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5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BehaviorShield  —  Real XR Motion Capture  ·  Rigorous LOSO Evaluation  ·  SHAP Explainability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05840" y="86868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Ritika Kalia¹   ·   Sudhakar Kumar¹   ·   Sunil K. Singh¹   ·   Samriti Sharma¹   ·   Kwok Tai Chui²   ·   Brij B. Gupta³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05840" y="106070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Dept. of CSE, Chandigarh College of Engineering &amp; Technology, India     ² Hong Kong Metropolitan University, Hong Kong SAR, China     ³ Asia University, Taiwan &amp; VIZJA University, Poland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307592"/>
            <a:ext cx="23103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0040" y="1600200"/>
            <a:ext cx="23103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Best-Fold ROC-AUC (LOSO)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2630363" y="1307592"/>
            <a:ext cx="23103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993,636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30363" y="1600200"/>
            <a:ext cx="23103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Behavioral Frames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940686" y="1307592"/>
            <a:ext cx="23103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+ 143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40686" y="1600200"/>
            <a:ext cx="23103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Players  +  AEA Sequences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7251009" y="1307592"/>
            <a:ext cx="23103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91.1% / 88.6%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51009" y="1600200"/>
            <a:ext cx="23103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Recall  /  Precision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9561332" y="1307592"/>
            <a:ext cx="23103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 ms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561332" y="1600200"/>
            <a:ext cx="23103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Inference Latency</a:t>
            </a:r>
            <a:endParaRPr lang="en-US" sz="830" dirty="0"/>
          </a:p>
        </p:txBody>
      </p:sp>
      <p:pic>
        <p:nvPicPr>
          <p:cNvPr id="19" name="Image 1" descr="/home/claude/icons/tra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0195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" y="188366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THREAT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20040" y="215798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avatars turn continuous motion into a new attack surface. Encryption and access control cannot stop inference from observable kinematics — BehaviorShield profiles motion itself, in real time.</a:t>
            </a:r>
            <a:endParaRPr lang="en-US" sz="810" dirty="0"/>
          </a:p>
        </p:txBody>
      </p:sp>
      <p:sp>
        <p:nvSpPr>
          <p:cNvPr id="22" name="Shape 18"/>
          <p:cNvSpPr/>
          <p:nvPr/>
        </p:nvSpPr>
        <p:spPr>
          <a:xfrm>
            <a:off x="320040" y="2852928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BEAE0"/>
          </a:solidFill>
          <a:ln/>
        </p:spPr>
      </p:sp>
      <p:pic>
        <p:nvPicPr>
          <p:cNvPr id="23" name="Image 2" descr="/home/claude/icons/tra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4436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4088" y="290779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Tracking</a:t>
            </a:r>
            <a:endParaRPr lang="en-US" sz="930" dirty="0"/>
          </a:p>
        </p:txBody>
      </p:sp>
      <p:sp>
        <p:nvSpPr>
          <p:cNvPr id="25" name="Text 20"/>
          <p:cNvSpPr/>
          <p:nvPr/>
        </p:nvSpPr>
        <p:spPr>
          <a:xfrm>
            <a:off x="411480" y="31455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toward a lagged copy of the target's path to infer real-world routines.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320040" y="3630168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BEAE0"/>
          </a:solidFill>
          <a:ln/>
        </p:spPr>
      </p:sp>
      <p:pic>
        <p:nvPicPr>
          <p:cNvPr id="27" name="Image 3" descr="/home/claude/icons/impersonate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21608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" y="368503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Impersonation</a:t>
            </a:r>
            <a:endParaRPr lang="en-US" sz="930" dirty="0"/>
          </a:p>
        </p:txBody>
      </p:sp>
      <p:sp>
        <p:nvSpPr>
          <p:cNvPr id="29" name="Text 23"/>
          <p:cNvSpPr/>
          <p:nvPr/>
        </p:nvSpPr>
        <p:spPr>
          <a:xfrm>
            <a:off x="411480" y="39227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rotation toward a victim's signature, fidelity degrading over time.</a:t>
            </a:r>
            <a:endParaRPr lang="en-US" sz="790" dirty="0"/>
          </a:p>
        </p:txBody>
      </p:sp>
      <p:sp>
        <p:nvSpPr>
          <p:cNvPr id="30" name="Shape 24"/>
          <p:cNvSpPr/>
          <p:nvPr/>
        </p:nvSpPr>
        <p:spPr>
          <a:xfrm>
            <a:off x="320040" y="4407408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BEAE0"/>
          </a:solidFill>
          <a:ln/>
        </p:spPr>
      </p:sp>
      <p:pic>
        <p:nvPicPr>
          <p:cNvPr id="31" name="Image 4" descr="/home/claude/icons/profile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498848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4088" y="446227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Profiling</a:t>
            </a:r>
            <a:endParaRPr lang="en-US" sz="930" dirty="0"/>
          </a:p>
        </p:txBody>
      </p:sp>
      <p:sp>
        <p:nvSpPr>
          <p:cNvPr id="33" name="Text 26"/>
          <p:cNvSpPr/>
          <p:nvPr/>
        </p:nvSpPr>
        <p:spPr>
          <a:xfrm>
            <a:off x="411480" y="47000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grid traversal with dwell + backtracking builds a behavioral dossier.</a:t>
            </a:r>
            <a:endParaRPr lang="en-US" sz="790" dirty="0"/>
          </a:p>
        </p:txBody>
      </p:sp>
      <p:pic>
        <p:nvPicPr>
          <p:cNvPr id="34" name="Image 5" descr="/home/claude/icons/arch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19019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145536" y="188366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2852928" y="5016377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pipeline: data ingestion → 19-feature engineering → Random Forest detection with SMOTE balancing and SHAP explainability.</a:t>
            </a:r>
            <a:endParaRPr lang="en-US" sz="780" dirty="0"/>
          </a:p>
        </p:txBody>
      </p:sp>
      <p:pic>
        <p:nvPicPr>
          <p:cNvPr id="39" name="Image 6" descr="/home/claude/icons/data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1901952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592824" y="188366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6300216" y="2176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buSzPct val="100000"/>
              <a:buChar char="●"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WhoIsAlyx</a:t>
            </a: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(real VR capture): 9 players · 4 sessions · 596,182 benign frames @ 90 fps (HTC Vive)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6300216" y="2542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buSzPct val="100000"/>
              <a:buChar char="●"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Aria AEA</a:t>
            </a: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cross-domain aug.: 143 real-world sequences → 119,236 frames injected (KS-test p&lt;0.001)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6300216" y="2907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buSzPct val="100000"/>
              <a:buChar char="●"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simulated threats</a:t>
            </a: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993,636 total annotated frames (60% benign / 40% threat)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6300216" y="32735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buSzPct val="100000"/>
              <a:buChar char="●"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engineered features</a:t>
            </a: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 base kinematic + 12 rolling-3s stats + time-since-last; ρ&lt;0.9 filter → 18 inputs</a:t>
            </a:r>
            <a:endParaRPr lang="en-US" sz="850" dirty="0"/>
          </a:p>
        </p:txBody>
      </p:sp>
      <p:sp>
        <p:nvSpPr>
          <p:cNvPr id="45" name="Text 36"/>
          <p:cNvSpPr/>
          <p:nvPr/>
        </p:nvSpPr>
        <p:spPr>
          <a:xfrm>
            <a:off x="6300216" y="3639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buSzPct val="100000"/>
              <a:buChar char="●"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(k=5)</a:t>
            </a: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Random Forest (200 trees, leaf≥5) @ threshold 0.50</a:t>
            </a:r>
            <a:endParaRPr lang="en-US" sz="8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0216" y="4059936"/>
          <a:ext cx="2788920" cy="8625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LOSO Protocol</a:t>
                      </a:r>
                      <a:endParaRPr lang="en-US" sz="83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83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83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Player-level (9 folds)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0.967±0.009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0.885±0.017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Date-level (4 folds)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0.963±0.007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0.836±0.042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</a:rPr>
                        <a:t>Best fold (player_06)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</a:rPr>
                        <a:t>0.976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000000"/>
                          </a:solidFill>
                        </a:rPr>
                        <a:t>0.899</a:t>
                      </a:r>
                      <a:endParaRPr lang="en-US" sz="810" dirty="0"/>
                    </a:p>
                  </a:txBody>
                  <a:tcPr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" name="Image 7" descr="/home/claude/icons/perf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0304" y="1901952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582912" y="1883664"/>
            <a:ext cx="2288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1250" dirty="0"/>
          </a:p>
        </p:txBody>
      </p:sp>
      <p:sp>
        <p:nvSpPr>
          <p:cNvPr id="51" name="Shape 40"/>
          <p:cNvSpPr/>
          <p:nvPr/>
        </p:nvSpPr>
        <p:spPr>
          <a:xfrm>
            <a:off x="9290304" y="4079279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52" name="Text 41"/>
          <p:cNvSpPr/>
          <p:nvPr/>
        </p:nvSpPr>
        <p:spPr>
          <a:xfrm>
            <a:off x="9290304" y="4115855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92.0%</a:t>
            </a:r>
            <a:endParaRPr lang="en-US" sz="1400" dirty="0"/>
          </a:p>
        </p:txBody>
      </p:sp>
      <p:sp>
        <p:nvSpPr>
          <p:cNvPr id="53" name="Text 42"/>
          <p:cNvSpPr/>
          <p:nvPr/>
        </p:nvSpPr>
        <p:spPr>
          <a:xfrm>
            <a:off x="9326880" y="4323241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30" dirty="0"/>
          </a:p>
        </p:txBody>
      </p:sp>
      <p:sp>
        <p:nvSpPr>
          <p:cNvPr id="54" name="Shape 43"/>
          <p:cNvSpPr/>
          <p:nvPr/>
        </p:nvSpPr>
        <p:spPr>
          <a:xfrm>
            <a:off x="10165994" y="4079279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55" name="Text 44"/>
          <p:cNvSpPr/>
          <p:nvPr/>
        </p:nvSpPr>
        <p:spPr>
          <a:xfrm>
            <a:off x="10165994" y="4115855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91.1%</a:t>
            </a:r>
            <a:endParaRPr lang="en-US" sz="1400" dirty="0"/>
          </a:p>
        </p:txBody>
      </p:sp>
      <p:sp>
        <p:nvSpPr>
          <p:cNvPr id="56" name="Text 45"/>
          <p:cNvSpPr/>
          <p:nvPr/>
        </p:nvSpPr>
        <p:spPr>
          <a:xfrm>
            <a:off x="10202570" y="4323241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30" dirty="0"/>
          </a:p>
        </p:txBody>
      </p:sp>
      <p:sp>
        <p:nvSpPr>
          <p:cNvPr id="57" name="Shape 46"/>
          <p:cNvSpPr/>
          <p:nvPr/>
        </p:nvSpPr>
        <p:spPr>
          <a:xfrm>
            <a:off x="11041685" y="4079279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58" name="Text 47"/>
          <p:cNvSpPr/>
          <p:nvPr/>
        </p:nvSpPr>
        <p:spPr>
          <a:xfrm>
            <a:off x="11041685" y="4115855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1400" dirty="0"/>
          </a:p>
        </p:txBody>
      </p:sp>
      <p:sp>
        <p:nvSpPr>
          <p:cNvPr id="59" name="Text 48"/>
          <p:cNvSpPr/>
          <p:nvPr/>
        </p:nvSpPr>
        <p:spPr>
          <a:xfrm>
            <a:off x="11078261" y="4323241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30" dirty="0"/>
          </a:p>
        </p:txBody>
      </p:sp>
      <p:sp>
        <p:nvSpPr>
          <p:cNvPr id="60" name="Shape 49"/>
          <p:cNvSpPr/>
          <p:nvPr/>
        </p:nvSpPr>
        <p:spPr>
          <a:xfrm>
            <a:off x="9290304" y="4545623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61" name="Text 50"/>
          <p:cNvSpPr/>
          <p:nvPr/>
        </p:nvSpPr>
        <p:spPr>
          <a:xfrm>
            <a:off x="9290304" y="4582199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1400" dirty="0"/>
          </a:p>
        </p:txBody>
      </p:sp>
      <p:sp>
        <p:nvSpPr>
          <p:cNvPr id="62" name="Text 51"/>
          <p:cNvSpPr/>
          <p:nvPr/>
        </p:nvSpPr>
        <p:spPr>
          <a:xfrm>
            <a:off x="9326880" y="4789585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30" dirty="0"/>
          </a:p>
        </p:txBody>
      </p:sp>
      <p:sp>
        <p:nvSpPr>
          <p:cNvPr id="63" name="Shape 52"/>
          <p:cNvSpPr/>
          <p:nvPr/>
        </p:nvSpPr>
        <p:spPr>
          <a:xfrm>
            <a:off x="10165994" y="4545623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64" name="Text 53"/>
          <p:cNvSpPr/>
          <p:nvPr/>
        </p:nvSpPr>
        <p:spPr>
          <a:xfrm>
            <a:off x="10165994" y="4582199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1400" dirty="0"/>
          </a:p>
        </p:txBody>
      </p:sp>
      <p:sp>
        <p:nvSpPr>
          <p:cNvPr id="65" name="Text 54"/>
          <p:cNvSpPr/>
          <p:nvPr/>
        </p:nvSpPr>
        <p:spPr>
          <a:xfrm>
            <a:off x="10202570" y="4789585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730" dirty="0"/>
          </a:p>
        </p:txBody>
      </p:sp>
      <p:sp>
        <p:nvSpPr>
          <p:cNvPr id="66" name="Shape 55"/>
          <p:cNvSpPr/>
          <p:nvPr/>
        </p:nvSpPr>
        <p:spPr>
          <a:xfrm>
            <a:off x="11041685" y="4545623"/>
            <a:ext cx="82997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67" name="Text 56"/>
          <p:cNvSpPr/>
          <p:nvPr/>
        </p:nvSpPr>
        <p:spPr>
          <a:xfrm>
            <a:off x="11041685" y="4582199"/>
            <a:ext cx="829970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</a:t>
            </a:r>
            <a:endParaRPr lang="en-US" sz="1400" dirty="0"/>
          </a:p>
        </p:txBody>
      </p:sp>
      <p:sp>
        <p:nvSpPr>
          <p:cNvPr id="68" name="Text 57"/>
          <p:cNvSpPr/>
          <p:nvPr/>
        </p:nvSpPr>
        <p:spPr>
          <a:xfrm>
            <a:off x="11078261" y="4789585"/>
            <a:ext cx="75681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30" dirty="0"/>
          </a:p>
        </p:txBody>
      </p:sp>
      <p:pic>
        <p:nvPicPr>
          <p:cNvPr id="69" name="Image 8" descr="/home/claude/icons/brai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5276088"/>
            <a:ext cx="219456" cy="219456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12648" y="525780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SHAP ANALYSIS</a:t>
            </a:r>
            <a:endParaRPr lang="en-US" sz="1250" dirty="0"/>
          </a:p>
        </p:txBody>
      </p:sp>
      <p:sp>
        <p:nvSpPr>
          <p:cNvPr id="73" name="Text 61"/>
          <p:cNvSpPr/>
          <p:nvPr/>
        </p:nvSpPr>
        <p:spPr>
          <a:xfrm>
            <a:off x="3200400" y="5532120"/>
            <a:ext cx="1600200" cy="9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7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 — all 3 threats: 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8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movement_entropy_std3s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0.205 · Profiling 0.202 · Imperson. 0.186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features = 58.7% of total |SHAP|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 lift AUC 0.70 → 0.977 (ablation)</a:t>
            </a:r>
            <a:endParaRPr lang="en-US" sz="780" dirty="0"/>
          </a:p>
        </p:txBody>
      </p:sp>
      <p:pic>
        <p:nvPicPr>
          <p:cNvPr id="74" name="Image 9" descr="/home/claude/icons/network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1768" y="5276088"/>
            <a:ext cx="219456" cy="219456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5294376" y="52578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(AUC)</a:t>
            </a:r>
            <a:endParaRPr lang="en-US" sz="1250" dirty="0"/>
          </a:p>
        </p:txBody>
      </p:sp>
      <p:graphicFrame>
        <p:nvGraphicFramePr>
          <p:cNvPr id="76" name="Chart 0"/>
          <p:cNvGraphicFramePr/>
          <p:nvPr/>
        </p:nvGraphicFramePr>
        <p:xfrm>
          <a:off x="4910328" y="5513832"/>
          <a:ext cx="347472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77" name="Image 10" descr="/home/claude/icons/bulb_te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4776" y="5276088"/>
            <a:ext cx="219456" cy="219456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8787384" y="5257800"/>
            <a:ext cx="3084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250" dirty="0"/>
          </a:p>
        </p:txBody>
      </p:sp>
      <p:sp>
        <p:nvSpPr>
          <p:cNvPr id="79" name="Text 64"/>
          <p:cNvSpPr/>
          <p:nvPr/>
        </p:nvSpPr>
        <p:spPr>
          <a:xfrm>
            <a:off x="8494776" y="5532120"/>
            <a:ext cx="33768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buSzPct val="100000"/>
              <a:buChar char="●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rolling stats are essential — AUC rises 0.70 → 0.98</a:t>
            </a:r>
            <a:endParaRPr lang="en-US" sz="840" dirty="0"/>
          </a:p>
          <a:p>
            <a:pPr marL="127000" indent="-127000">
              <a:lnSpc>
                <a:spcPct val="108000"/>
              </a:lnSpc>
              <a:buSzPct val="100000"/>
              <a:buChar char="●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AEA augmentation curbs VR-specific overfitting</a:t>
            </a:r>
            <a:endParaRPr lang="en-US" sz="840" dirty="0"/>
          </a:p>
          <a:p>
            <a:pPr marL="127000" indent="-127000">
              <a:lnSpc>
                <a:spcPct val="108000"/>
              </a:lnSpc>
              <a:buSzPct val="100000"/>
              <a:buChar char="●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interpretable (SHAP); LightGBM → real-time (0.85 ms, fits 90 fps)</a:t>
            </a:r>
            <a:endParaRPr lang="en-US" sz="840" dirty="0"/>
          </a:p>
          <a:p>
            <a:pPr marL="127000" indent="-127000">
              <a:lnSpc>
                <a:spcPct val="108000"/>
              </a:lnSpc>
              <a:buSzPct val="100000"/>
              <a:buChar char="●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red-team adversarial data, live deployment, federated learning, transformer temporal models</a:t>
            </a:r>
            <a:endParaRPr lang="en-US" sz="840" dirty="0"/>
          </a:p>
        </p:txBody>
      </p:sp>
      <p:sp>
        <p:nvSpPr>
          <p:cNvPr id="80" name="Text 65"/>
          <p:cNvSpPr/>
          <p:nvPr/>
        </p:nvSpPr>
        <p:spPr>
          <a:xfrm>
            <a:off x="8494776" y="6510528"/>
            <a:ext cx="33768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Acknowledgment: Supported by NSTC, Taiwan (Grants NSTC112-2221-E-468-008-MY3 &amp; NSTC114-2221-E-468-015)</a:t>
            </a:r>
            <a:endParaRPr lang="en-US" sz="680" dirty="0"/>
          </a:p>
        </p:txBody>
      </p:sp>
      <p:pic>
        <p:nvPicPr>
          <p:cNvPr id="81" name="Picture 80" descr="A diagram of a project&#10;&#10;AI-generated content may be incorrect.">
            <a:extLst>
              <a:ext uri="{FF2B5EF4-FFF2-40B4-BE49-F238E27FC236}">
                <a16:creationId xmlns:a16="http://schemas.microsoft.com/office/drawing/2014/main" id="{99529116-034C-6C78-0246-7AB3642E26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6168" y="2157196"/>
            <a:ext cx="2924863" cy="2800639"/>
          </a:xfrm>
          <a:prstGeom prst="rect">
            <a:avLst/>
          </a:prstGeom>
        </p:spPr>
      </p:pic>
      <p:pic>
        <p:nvPicPr>
          <p:cNvPr id="82" name="Picture 8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BA64A7-7F47-0640-3431-A7F56D6215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28" y="5596128"/>
            <a:ext cx="3058808" cy="1069848"/>
          </a:xfrm>
          <a:prstGeom prst="rect">
            <a:avLst/>
          </a:prstGeom>
        </p:spPr>
      </p:pic>
      <p:pic>
        <p:nvPicPr>
          <p:cNvPr id="83" name="Picture 8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F57CBA4-672B-314E-6B0B-DAE19FD0A9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28" y="5596128"/>
            <a:ext cx="3058808" cy="1069848"/>
          </a:xfrm>
          <a:prstGeom prst="rect">
            <a:avLst/>
          </a:prstGeom>
        </p:spPr>
      </p:pic>
      <p:pic>
        <p:nvPicPr>
          <p:cNvPr id="84" name="Picture 83" descr="A graph of a graph&#10;&#10;AI-generated content may be incorrect.">
            <a:extLst>
              <a:ext uri="{FF2B5EF4-FFF2-40B4-BE49-F238E27FC236}">
                <a16:creationId xmlns:a16="http://schemas.microsoft.com/office/drawing/2014/main" id="{634E06CD-60DF-344E-BE0F-7E642B86E37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09760" y="2122657"/>
            <a:ext cx="2288742" cy="18926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478</Words>
  <Application>Microsoft Office PowerPoint</Application>
  <PresentationFormat>Widescreen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BehaviorShield: Real-Time Privacy Guardianship in XR Metaverses via AI-Driven Behavioral Analytics</dc:title>
  <dc:subject>PptxGenJS Presentation</dc:subject>
  <dc:creator>Ritika Kalia, Sudhakar Kumar, Sunil K. Singh, Samriti Sharma, Kwok Tai Chui, Brij B. Gupta</dc:creator>
  <cp:lastModifiedBy>ritika kalia</cp:lastModifiedBy>
  <cp:revision>3</cp:revision>
  <dcterms:created xsi:type="dcterms:W3CDTF">2026-06-18T14:14:40Z</dcterms:created>
  <dcterms:modified xsi:type="dcterms:W3CDTF">2026-06-18T18:29:01Z</dcterms:modified>
</cp:coreProperties>
</file>